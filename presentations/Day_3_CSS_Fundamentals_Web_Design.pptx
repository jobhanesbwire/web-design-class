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C4DC"/>
                </a:solidFill>
                <a:latin typeface="Aptos"/>
              </a:rPr>
              <a:t>WEB DESIGN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DAY 3
CSS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Turn correct HTML into a clear, attractive interface.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9C02B"/>
                </a:solidFill>
                <a:latin typeface="Aptos"/>
              </a:rPr>
              <a:t>SELECT • STYLE • SPACE • REUSE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05156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E1F35"/>
                </a:solidFill>
                <a:latin typeface="Aptos"/>
              </a:rPr>
              <a:t>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011680"/>
            <a:ext cx="2880360" cy="123444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19456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&lt;h1 class="title"&gt;
  Learn CSS
&lt;/h1&gt;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52044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1A146"/>
                </a:solidFill>
                <a:latin typeface="Aptos"/>
              </a:rPr>
              <a:t>↓ 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4069080"/>
            <a:ext cx="2423160" cy="77724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427939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Learn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074920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B6978"/>
                </a:solidFill>
                <a:latin typeface="Aptos"/>
              </a:rPr>
              <a:t>Day 3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By the end of class, students should style a page without copying blindly.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246120" cy="109728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Link an external stylesheet correctly and explain why separation matters.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96512" y="1965960"/>
            <a:ext cx="3246120" cy="109728"/>
          </a:xfrm>
          <a:prstGeom prst="rect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Use selectors, colors, typography, borders, spacing and the box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98664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98664" y="1965960"/>
            <a:ext cx="3246120" cy="109728"/>
          </a:xfrm>
          <a:prstGeom prst="rect">
            <a:avLst/>
          </a:prstGeom>
          <a:solidFill>
            <a:srgbClr val="F9C02B"/>
          </a:solidFill>
          <a:ln>
            <a:solidFill>
              <a:srgbClr val="F9C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REUSE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Create reusable classes and style the Day 2 business page consistently.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Tell students today's goal is not “beautiful design”; it is controlled, predictable styling.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Quick recap: HTML vs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HTML describes content. CSS controls how that content is presented.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80060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4251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E1F35"/>
                </a:solidFill>
                <a:latin typeface="Aptos"/>
              </a:rPr>
              <a:t>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788920"/>
            <a:ext cx="4160520" cy="164592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971800"/>
            <a:ext cx="37033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&lt;h1&gt;Our Services&lt;/h1&gt;
&lt;p&gt;Fast internet solutions.&lt;/p&gt;
&lt;button&gt;Contact Us&lt;/button&gt;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828800"/>
            <a:ext cx="480060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148840"/>
            <a:ext cx="4251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41A146"/>
                </a:solidFill>
                <a:latin typeface="Aptos"/>
              </a:rPr>
              <a:t>CSS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788920"/>
            <a:ext cx="4160520" cy="164592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971800"/>
            <a:ext cx="37033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h1 { color: #2596be; }
p { font-size: 18px; }
button { padding: 12px 20px;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Ask: which side changes meaning/content, and which side changes presentation?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Three ways to add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Know all three; use external CSS for normal projects.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246120" cy="109728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INLINE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Inside an element:
style="color: blue;"
Useful for tiny tests; poor for maintainability.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96512" y="1965960"/>
            <a:ext cx="3246120" cy="109728"/>
          </a:xfrm>
          <a:prstGeom prst="rect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Inside &lt;style&gt; in the HTML &lt;head&gt;.
Useful for small demos or a single 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98664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98664" y="1965960"/>
            <a:ext cx="3246120" cy="109728"/>
          </a:xfrm>
          <a:prstGeom prst="rect">
            <a:avLst/>
          </a:prstGeom>
          <a:solidFill>
            <a:srgbClr val="F9C02B"/>
          </a:solidFill>
          <a:ln>
            <a:solidFill>
              <a:srgbClr val="F9C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EXTERNAL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Separate .css file linked to HTML.
Best default for reusable, maintainable projects.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Demonstrate inline/internal briefly, then use external CSS for the rest of the course.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Link an external stylesheet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A clean project separates structure from 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6400800" cy="297180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943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&lt;head&gt;
  &lt;meta charset="UTF-8"&gt;
  &lt;meta name="viewport" content="width=device-width, initial-scale=1.0"&gt;
  &lt;title&gt;My Business&lt;/title&gt;
  &lt;link rel="stylesheet" href="css/style.css"&gt;
&lt;/head&gt;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828800"/>
            <a:ext cx="3566160" cy="288036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1488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C4DC"/>
                </a:solidFill>
                <a:latin typeface="Consolas"/>
              </a:rPr>
              <a:t>my-business/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69748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├── index.html
├── css/
│   └── style.css
└── images/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2519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9C02B"/>
                </a:solidFill>
                <a:latin typeface="Aptos"/>
              </a:rPr>
              <a:t>Path must match the real folder.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Break the href path intentionally and ask students why the styles disappear.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Anatomy of a CSS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Selector → property →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572000" cy="242316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41148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onsolas"/>
              </a:rPr>
              <a:t>h1 {
  color: #2596be;
  font-size: 40px;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87451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96BE"/>
                </a:solidFill>
                <a:latin typeface="Consolas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92024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SELECTOR — what to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7432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1A146"/>
                </a:solidFill>
                <a:latin typeface="Consolas"/>
              </a:rPr>
              <a:t>color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7889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PROPERTY — what to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6118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9C02B"/>
                </a:solidFill>
                <a:latin typeface="Consolas"/>
              </a:rPr>
              <a:t>#2596be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6576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VALUE — how to change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46177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1F35"/>
                </a:solidFill>
                <a:latin typeface="Aptos"/>
              </a:rPr>
              <a:t>Declaration: property +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Have students read a rule aloud: “Select every h1; set its color to …”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Selectors: choose what you style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Good CSS starts with selecting the intended elements.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623560" cy="3977639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166360" cy="3657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p { color: #333; }
.card { padding: 20px; }
#hero { background: #f4f7fa; }
nav a { text-decoration: none;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82880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Element selector: p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Class selector: .card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ID selector: #hero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Descendant selector: nav a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Prefer reusable classes for components and repeated styles.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Give students HTML and ask which selector would target exactly the required element(s).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The cascade: why CSS means Cascading Style Sheets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When rules compete, the browser must decide which declaration applies.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847088"/>
            <a:ext cx="594360" cy="594360"/>
          </a:xfrm>
          <a:prstGeom prst="ellipse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74519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1F35"/>
                </a:solidFill>
                <a:latin typeface="Aptos"/>
              </a:rPr>
              <a:t>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317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B6978"/>
                </a:solidFill>
                <a:latin typeface="Aptos"/>
              </a:rPr>
              <a:t>Which rules target the element?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054096"/>
            <a:ext cx="594360" cy="594360"/>
          </a:xfrm>
          <a:prstGeom prst="ellipse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09067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1F35"/>
                </a:solidFill>
                <a:latin typeface="Aptos"/>
              </a:rPr>
              <a:t>Specificity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47872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B6978"/>
                </a:solidFill>
                <a:latin typeface="Aptos"/>
              </a:rPr>
              <a:t>More specific selectors can override less specific ones.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315968"/>
            <a:ext cx="594360" cy="594360"/>
          </a:xfrm>
          <a:prstGeom prst="ellipse">
            <a:avLst/>
          </a:prstGeom>
          <a:solidFill>
            <a:srgbClr val="F9C02B"/>
          </a:solidFill>
          <a:ln>
            <a:solidFill>
              <a:srgbClr val="F9C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462272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E1F35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343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1F35"/>
                </a:solidFill>
                <a:latin typeface="Aptos"/>
              </a:rPr>
              <a:t>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800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B6978"/>
                </a:solidFill>
                <a:latin typeface="Aptos"/>
              </a:rPr>
              <a:t>If specificity is equal, later rules can win.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920240"/>
            <a:ext cx="4572000" cy="256032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103120"/>
            <a:ext cx="4114800" cy="2240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p { color: blue; }
.intro { color: green; }
#lead { color: red;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800600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CD4646"/>
                </a:solidFill>
                <a:latin typeface="Aptos"/>
              </a:rPr>
              <a:t>Keep specificity simple today. Avoid !important as a beginner shortcut.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This is conceptual. Do not overload students with specificity calculations yet.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Colors: communicate and create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Use color intentionally, not randomly.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828800" cy="68580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29968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HEX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99339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Consolas"/>
              </a:rPr>
              <a:t>#2596be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26080"/>
            <a:ext cx="1828800" cy="685800"/>
          </a:xfrm>
          <a:prstGeom prst="roundRect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27248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0906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Consolas"/>
              </a:rPr>
              <a:t>rgb(37,150,190)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23360"/>
            <a:ext cx="1828800" cy="685800"/>
          </a:xfrm>
          <a:prstGeom prst="round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24528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18795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Consolas"/>
              </a:rPr>
              <a:t>navy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8288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1F35"/>
                </a:solidFill>
                <a:latin typeface="Aptos"/>
              </a:rPr>
              <a:t>Practical design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46888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Choose a small palette.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Maintain readable contrast.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Use one accent color consistently.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Do not communicate meaning by color alone.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Test text against its background.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Show a low-contrast example and ask which text is easier to read.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Typography: make content readable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Good typography is part of usability.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06908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body {
  font-family: Arial, sans-serif;
  font-size: 16px;
  line-height: 1.6;
  color: #1b2631;
}
h1 {
  font-size: 42px;
  font-weight: 700;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1F35"/>
                </a:solidFill>
                <a:latin typeface="Aptos"/>
              </a:rPr>
              <a:t>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2316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Main Heading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15468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596BE"/>
                </a:solidFill>
                <a:latin typeface="Aptos"/>
              </a:rPr>
              <a:t>Section Heading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84048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2631"/>
                </a:solidFill>
                <a:latin typeface="Aptos"/>
              </a:rPr>
              <a:t>Body text should remain comfortable to read across paragraphs and screen sizes.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074920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D4646"/>
                </a:solidFill>
                <a:latin typeface="Aptos"/>
              </a:rPr>
              <a:t>Avoid using many fonts, sizes and weights without purpose.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Ask students what visual hierarchy tells a reader to look at 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The CSS Box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Every visible element can be understood as a box.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5577840" cy="3977639"/>
          </a:xfrm>
          <a:prstGeom prst="rect">
            <a:avLst/>
          </a:prstGeom>
          <a:solidFill>
            <a:srgbClr val="F9C02B"/>
          </a:solidFill>
          <a:ln>
            <a:solidFill>
              <a:srgbClr val="F9C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MARGIN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2286000"/>
            <a:ext cx="4480560" cy="2880360"/>
          </a:xfrm>
          <a:prstGeom prst="rect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4505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BORDER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788920"/>
            <a:ext cx="3474720" cy="1874519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953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PADDING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3337560"/>
            <a:ext cx="2286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356616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E1F35"/>
                </a:solidFill>
                <a:latin typeface="Aptos"/>
              </a:rPr>
              <a:t>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8288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5"/>
                </a:solidFill>
                <a:latin typeface="Aptos"/>
              </a:rPr>
              <a:t>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8"/>
                </a:solidFill>
                <a:latin typeface="Aptos"/>
              </a:rPr>
              <a:t>The text/image itself.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6517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96BE"/>
                </a:solidFill>
                <a:latin typeface="Aptos"/>
              </a:rPr>
              <a:t>PADDING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8"/>
                </a:solidFill>
                <a:latin typeface="Aptos"/>
              </a:rPr>
              <a:t>Space inside the border.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4747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1A146"/>
                </a:solidFill>
                <a:latin typeface="Aptos"/>
              </a:rPr>
              <a:t>BORDER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4747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8"/>
                </a:solidFill>
                <a:latin typeface="Aptos"/>
              </a:rPr>
              <a:t>Edge around padding/content.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3891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9C02B"/>
                </a:solidFill>
                <a:latin typeface="Aptos"/>
              </a:rPr>
              <a:t>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38912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8"/>
                </a:solidFill>
                <a:latin typeface="Aptos"/>
              </a:rPr>
              <a:t>Space outside the element.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This concept is essential. Draw it physically on a board as well as showing the slide.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Margin vs padding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Both create space—but on different sides of the border.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572000" cy="228600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1148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.card {
  margin: 20px;
  padding: 24px;
  border: 1px solid #ddd;
}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783080"/>
            <a:ext cx="4572000" cy="3200400"/>
          </a:xfrm>
          <a:prstGeom prst="rect">
            <a:avLst/>
          </a:prstGeom>
          <a:solidFill>
            <a:srgbClr val="F9C02B"/>
          </a:solidFill>
          <a:ln>
            <a:solidFill>
              <a:srgbClr val="F9C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2377440"/>
            <a:ext cx="33832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5786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96BE"/>
                </a:solidFill>
                <a:latin typeface="Aptos"/>
              </a:rPr>
              <a:t>padding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2461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E1F35"/>
                </a:solidFill>
                <a:latin typeface="Aptos"/>
              </a:rPr>
              <a:t>CARD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0E1F35"/>
                </a:solidFill>
                <a:latin typeface="Aptos"/>
              </a:rPr>
              <a:t>Margin separates boxes. Padding gives content breathing room.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Have students change margin to 0, then padding to 0, and describe the visual difference.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Borders, radius and backgrounds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Simple properties can create useful visual components.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937760" cy="274320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48056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.card {
  background: #ffffff;
  border: 1px solid #dce3ea;
  border-radius: 12px;
  padding: 24px;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828800"/>
            <a:ext cx="42062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21945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1F35"/>
                </a:solidFill>
                <a:latin typeface="Aptos"/>
              </a:rPr>
              <a:t>Internet 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834640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B6978"/>
                </a:solidFill>
                <a:latin typeface="Aptos"/>
              </a:rPr>
              <a:t>Reliable connectivity for home and business.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794760"/>
            <a:ext cx="1508760" cy="50292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3950208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Learn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1A146"/>
                </a:solidFill>
                <a:latin typeface="Aptos"/>
              </a:rPr>
              <a:t>Component thinking begins here: one class can style many cards.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Duplicate the card in HTML and show how the same .card class styles every copy.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Width, max-width and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Avoid designs that only work on one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77639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3657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.container {
  width: 90%;
  max-width: 1100px;
  margin: 0 auto;
}
img {
  max-width: 100%;
  height: auto;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px = fixed CSS pixel unit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% = relative to containing element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max-width limits excessive growth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margin: 0 auto can center a block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Responsive sizing becomes more important on Day 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Resize the browser and show why a max-width container is more comfortable on wide screens.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Style links and buttons deliberately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Interactive elements should look recognizable and consistent.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486400" cy="416052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50292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a {
  color: #2596be;
}
.cta {
  display: inline-block;
  background: #2596be;
  color: white;
  padding: 12px 20px;
  border-radius: 8px;
  text-decoration: none;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6978"/>
                </a:solidFill>
                <a:latin typeface="Aptos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105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596BE"/>
                </a:solidFill>
                <a:latin typeface="Aptos"/>
              </a:rPr>
              <a:t>Contact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9260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B6978"/>
                </a:solidFill>
                <a:latin typeface="Aptos"/>
              </a:rPr>
              <a:t>After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788920"/>
            <a:ext cx="1965960" cy="68580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999232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Contact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06908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A146"/>
                </a:solidFill>
                <a:latin typeface="Aptos"/>
              </a:rPr>
              <a:t>Later we will add hover/focus states and richer interaction.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Explain that links navigate; buttons perform actions. Styling should not erase that distinction.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CSS comments and code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Readable CSS is a teamwork skill.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029200" cy="411480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/* Base styles */
body { ... }
/* Navigation */
nav { ... }
nav a { ... }
/* Sections */
.section { ... }
/* Components */
.card { ... }
.button { ...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Group related rules.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Use clear class names.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Keep formatting consistent.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Comment sections—not every obvious line.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Delete dead experiments when finished.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498348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E1F35"/>
                </a:solidFill>
                <a:latin typeface="Aptos"/>
              </a:rPr>
              <a:t>Code is read more often than it is written.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Relate clean CSS to real teams: another developer should understand your stylesheet quickly.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Developer Tools: inspect instead of guessing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The browser can show you which CSS rules are active.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246120" cy="109728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Right-click an element → Inspect. Identify the HTML element and its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96512" y="1965960"/>
            <a:ext cx="3246120" cy="109728"/>
          </a:xfrm>
          <a:prstGeom prst="rect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Toggle properties and edit values live without changing the source 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98664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98664" y="1965960"/>
            <a:ext cx="3246120" cy="109728"/>
          </a:xfrm>
          <a:prstGeom prst="rect">
            <a:avLst/>
          </a:prstGeom>
          <a:solidFill>
            <a:srgbClr val="F9C02B"/>
          </a:solidFill>
          <a:ln>
            <a:solidFill>
              <a:srgbClr val="F9C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Return to style.css, make the real change, save and refresh.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1208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D4646"/>
                </a:solidFill>
                <a:latin typeface="Aptos"/>
              </a:rPr>
              <a:t>DevTools changes are temporary until you update your actual code.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Do a live Inspect demo. Change a heading color and padding directly in DevTools.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Common CSS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Debug systematically.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37947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596BE"/>
                </a:solidFill>
                <a:latin typeface="Aptos"/>
              </a:rPr>
              <a:t>SYMPTOM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4297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No styles at all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One rule does nothing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Wrong elements styled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Spacing looks strange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Image overflows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212080" cy="37947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1A146"/>
                </a:solidFill>
                <a:latin typeface="Aptos"/>
              </a:rP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06040"/>
            <a:ext cx="4297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Is style.css linked correctly?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Property/value spelling + semicolon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Selector matches HTML?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Box model: margin/padding/width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Use max-width: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Tell students: first inspect the exact element; then inspect the exact rule.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Hands-on Lab: style the Day 2 business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Turn semantic HTML into a consistent visual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486400" cy="40690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96BE"/>
                </a:solidFill>
                <a:latin typeface="Aptos"/>
              </a:rPr>
              <a:t>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Create css/style.css and link it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Set body font, text color and background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Style header + navigation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Create a centered .container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Style section headings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Create reusable .card styling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Style contact form fields and button</a:t>
            </a:r>
          </a:p>
          <a:p>
            <a:pPr>
              <a:spcAft>
                <a:spcPts val="8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Use consistent spacing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737360"/>
            <a:ext cx="4754880" cy="4069080"/>
          </a:xfrm>
          <a:prstGeom prst="round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0574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C02B"/>
                </a:solidFill>
                <a:latin typeface="Aptos"/>
              </a:rPr>
              <a:t>DESIGN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743200"/>
            <a:ext cx="384048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Use only:
• 2 main colors + neutrals
• 1 font family
• consistent border radius
• consistent spacing
• external CSS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Give 40–50 minutes. Grade consistency and understanding more than visual complexity.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Mini challenge: build a reusable service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One class, three pieces of content.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303520" cy="256032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2240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&lt;div class="card"&gt;
  &lt;h3&gt;Home Wi-Fi&lt;/h3&gt;
  &lt;p&gt;Reliable internet for your home.&lt;/p&gt;
  &lt;a class="button" href="#"&gt;Learn More&lt;/a&gt;
&lt;/div&gt;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663440" cy="256032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4206240" cy="2240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.card {
  background: white;
  padding: 24px;
  border: 1px solid #ddd;
  border-radius: 12px;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E1F35"/>
                </a:solidFill>
                <a:latin typeface="Aptos"/>
              </a:rPr>
              <a:t>Challenge: duplicate the HTML card twice. Change only the content—not the CSS.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This introduces component/reusability thinking before frameworks.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Day 3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Students should be able to explain each styling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B2631"/>
                </a:solidFill>
                <a:latin typeface="Aptos"/>
              </a:defRPr>
            </a:pPr>
            <a:r>
              <a:t>• 1. Why is external CSS preferred for a multi-page project?</a:t>
            </a:r>
          </a:p>
          <a:p>
            <a:pPr>
              <a:spcAft>
                <a:spcPts val="800"/>
              </a:spcAft>
              <a:defRPr sz="1900">
                <a:solidFill>
                  <a:srgbClr val="1B2631"/>
                </a:solidFill>
                <a:latin typeface="Aptos"/>
              </a:defRPr>
            </a:pPr>
            <a:r>
              <a:t>• 2. What is the difference between a class and an ID selector?</a:t>
            </a:r>
          </a:p>
          <a:p>
            <a:pPr>
              <a:spcAft>
                <a:spcPts val="800"/>
              </a:spcAft>
              <a:defRPr sz="1900">
                <a:solidFill>
                  <a:srgbClr val="1B2631"/>
                </a:solidFill>
                <a:latin typeface="Aptos"/>
              </a:defRPr>
            </a:pPr>
            <a:r>
              <a:t>• 3. Explain selector, property and value.</a:t>
            </a:r>
          </a:p>
          <a:p>
            <a:pPr>
              <a:spcAft>
                <a:spcPts val="800"/>
              </a:spcAft>
              <a:defRPr sz="1900">
                <a:solidFill>
                  <a:srgbClr val="1B2631"/>
                </a:solidFill>
                <a:latin typeface="Aptos"/>
              </a:defRPr>
            </a:pPr>
            <a:r>
              <a:t>• 4. What is the difference between margin and padding?</a:t>
            </a:r>
          </a:p>
          <a:p>
            <a:pPr>
              <a:spcAft>
                <a:spcPts val="800"/>
              </a:spcAft>
              <a:defRPr sz="1900">
                <a:solidFill>
                  <a:srgbClr val="1B2631"/>
                </a:solidFill>
                <a:latin typeface="Aptos"/>
              </a:defRPr>
            </a:pPr>
            <a:r>
              <a:t>• 5. What does max-width solve?</a:t>
            </a:r>
          </a:p>
          <a:p>
            <a:pPr>
              <a:spcAft>
                <a:spcPts val="800"/>
              </a:spcAft>
              <a:defRPr sz="1900">
                <a:solidFill>
                  <a:srgbClr val="1B2631"/>
                </a:solidFill>
                <a:latin typeface="Aptos"/>
              </a:defRPr>
            </a:pPr>
            <a:r>
              <a:t>• 6. How would you debug CSS that is not applying?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96BE"/>
                </a:solidFill>
                <a:latin typeface="Aptos"/>
              </a:rPr>
              <a:t>EXIT TASK: show your styled Day 2 page and explain any three CSS rules to the class.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Ask for explanations, not definitions copied from notes.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Polish—but do not overbuild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Practice the fundamentals before tomorrow's layout lesson.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784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Complete the business page from class.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Use at least 5 class selectors and 3 element selectors.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Demonstrate margin, padding, border and border-radius.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Use a consistent color palette and typography hierarchy.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Make images fit their containers.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Add CSS comments to organize the stylesheet.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Be ready to explain one bug you encountered and how you fixed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8640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D4646"/>
                </a:solidFill>
                <a:latin typeface="Aptos"/>
              </a:rPr>
              <a:t>Do NOT use Bootstrap/Tailwind yet. Build the CSS yourself.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The restriction forces students to learn the browser's native CSS before abstractions.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Day 4: CSS Layout &amp; Flexbox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Now that individual elements can be styled, we will arrange them into professional layouts.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329184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9C4DC"/>
                </a:solidFill>
                <a:latin typeface="Aptos"/>
              </a:rPr>
              <a:t>NAVIGATION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743200"/>
            <a:ext cx="9966960" cy="68580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94436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HERO SECTION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749039"/>
            <a:ext cx="3200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39" y="402336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1F35"/>
                </a:solidFill>
                <a:latin typeface="Aptos"/>
              </a:rPr>
              <a:t>SERVICE CARD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749039"/>
            <a:ext cx="3200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02336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1F35"/>
                </a:solidFill>
                <a:latin typeface="Aptos"/>
              </a:rPr>
              <a:t>SERVICE CARD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749039"/>
            <a:ext cx="32004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402336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1F35"/>
                </a:solidFill>
                <a:latin typeface="Aptos"/>
              </a:rPr>
              <a:t>SERVICE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1A146"/>
                </a:solidFill>
                <a:latin typeface="Aptos"/>
              </a:rPr>
              <a:t>Next skill: display • flex-direction • justify-content • align-items • gap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End by showing the gap between “styled elements” and “designed layout.”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Recommended learning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Use standards-based references while practicing.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MDN Learn CSS — developer.mozilla.org/en-US/docs/Learn_web_development/Core/Styling_basics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MDN CSS Reference — developer.mozilla.org/en-US/docs/Web/CSS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MDN Box Model — developer.mozilla.org/en-US/docs/Learn_web_development/Core/Styling_basics/Box_model</a:t>
            </a:r>
          </a:p>
          <a:p>
            <a:pPr>
              <a:spcAft>
                <a:spcPts val="8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web.dev Learn CSS — web.dev/learn/css/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6636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96BE"/>
                </a:solidFill>
                <a:latin typeface="Aptos"/>
              </a:rPr>
              <a:t>Instructor principle: teach the CSS mental model first; frameworks can come later.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Encourage students to use documentation to understand properties instead of memorizing everything.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