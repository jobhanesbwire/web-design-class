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9C4DC"/>
                </a:solidFill>
                <a:latin typeface="Aptos"/>
              </a:rPr>
              <a:t>WEB DESIGN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4922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DAY 4
CSS Layout &amp; Flexbox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6492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Move from styled elements to professional page layouts.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9C02B"/>
                </a:solidFill>
                <a:latin typeface="Aptos"/>
              </a:rPr>
              <a:t>CONTAIN • ALIGN • SPACE • ARRANGE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051560"/>
            <a:ext cx="36118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1508760"/>
            <a:ext cx="2971800" cy="50292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664208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NAV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286000"/>
            <a:ext cx="2971800" cy="91440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587752"/>
            <a:ext cx="2788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HERO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520440"/>
            <a:ext cx="896112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71432" y="3520440"/>
            <a:ext cx="896112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04704" y="3520440"/>
            <a:ext cx="896112" cy="9601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3867912"/>
            <a:ext cx="749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3867912"/>
            <a:ext cx="749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7856" y="3867912"/>
            <a:ext cx="7498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5"/>
                </a:solidFill>
                <a:latin typeface="Aptos"/>
              </a:rPr>
              <a:t>CARD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754880"/>
            <a:ext cx="2971800" cy="411480"/>
          </a:xfrm>
          <a:prstGeom prst="round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4873752"/>
            <a:ext cx="2788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FOOTER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By the end of class, students should construct common layouts with Flexbox.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Explain normal document flow, containers, Flexbox axes and flex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ARRANGE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Build rows, columns, navigation bars, hero sections and card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DEBUG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DevTools to inspect alignment, spacing, wrapping and layout behaviour.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Tell students: today we stop placing elements by accident and start controlling layout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Recap: styling vs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Day 3 styled the boxes. Day 4 decides where the boxes go.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480060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E1F35"/>
                </a:solidFill>
                <a:latin typeface="Aptos"/>
              </a:rPr>
              <a:t>DAY 3: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7889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Color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Typography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Padding &amp; margin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Borders &amp; radius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Backgrounds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828800"/>
            <a:ext cx="4800600" cy="33375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148840"/>
            <a:ext cx="4251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2596BE"/>
                </a:solidFill>
                <a:latin typeface="Aptos"/>
              </a:rPr>
              <a:t>DAY 4: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788920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Rows &amp; columns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Alignment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Distribution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Wrapping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Page sections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Open the Day 3 project and ask: which problems are visual style, and which are layout?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Normal document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Before Flexbox, understand the browser's default layout behaviour.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Block elements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4023360" cy="45720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60320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onsolas"/>
              </a:rPr>
              <a:t>&lt;header&gt;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81528"/>
            <a:ext cx="4023360" cy="4572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18687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631"/>
                </a:solidFill>
                <a:latin typeface="Consolas"/>
              </a:rPr>
              <a:t>&lt;section&gt;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39896"/>
            <a:ext cx="4023360" cy="4572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7705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631"/>
                </a:solidFill>
                <a:latin typeface="Consolas"/>
              </a:rPr>
              <a:t>&lt;p&gt;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398264"/>
            <a:ext cx="4023360" cy="45720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35424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B2631"/>
                </a:solidFill>
                <a:latin typeface="Consolas"/>
              </a:rPr>
              <a:t>&lt;footer&gt;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5B6978"/>
                </a:solidFill>
                <a:latin typeface="Aptos"/>
              </a:rPr>
              <a:t>Usually stack vertically and take available width.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E1F35"/>
                </a:solidFill>
                <a:latin typeface="Aptos"/>
              </a:rPr>
              <a:t>Inline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68880"/>
            <a:ext cx="4572000" cy="105156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788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1B2631"/>
                </a:solidFill>
                <a:latin typeface="Consolas"/>
              </a:rPr>
              <a:t>Text  &lt;a&gt;Link&lt;/a&gt;  &lt;strong&gt;Bold&lt;/strong&gt;  more 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77639"/>
            <a:ext cx="4572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B6978"/>
                </a:solidFill>
                <a:latin typeface="Aptos"/>
              </a:rPr>
              <a:t>Inline content flows within a line until space runs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Explain that Flexbox changes how a container arranges its direct children.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Containers create controlled page 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Professional pages rarely stretch content edge-to-edge on large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572000" cy="23317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114800" cy="20116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.container {
  width: 90%;
  max-width: 1100px;
  margin: 0 auto;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83080"/>
            <a:ext cx="5257800" cy="32004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2148840"/>
            <a:ext cx="38862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063240"/>
            <a:ext cx="3429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E1F35"/>
                </a:solidFill>
                <a:latin typeface="Aptos"/>
              </a:rPr>
              <a:t>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617720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B6978"/>
                </a:solidFill>
                <a:latin typeface="Aptos"/>
              </a:rPr>
              <a:t>Browser /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41A146"/>
                </a:solidFill>
                <a:latin typeface="Aptos"/>
              </a:rPr>
              <a:t>A container gives content readable width and consistent alignment.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Resize the browser to show width:90% until max-width stops further growth.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Flexbox starts with a flex container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One declaration changes how direct children are laid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03520" cy="41148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&lt;div class="services"&gt;
  &lt;div class="card"&gt;One&lt;/div&gt;
  &lt;div class="card"&gt;Two&lt;/div&gt;
  &lt;div class="card"&gt;Three&lt;/div&gt;
&lt;/div&gt;
.services {
  display: flex;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475488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2514600"/>
            <a:ext cx="1143000" cy="91440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28346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51460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8" y="28346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5"/>
                </a:solidFill>
                <a:latin typeface="Aptos"/>
              </a:rPr>
              <a:t>TWO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514600"/>
            <a:ext cx="1143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2834640"/>
            <a:ext cx="1005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5"/>
                </a:solidFill>
                <a:latin typeface="Aptos"/>
              </a:rPr>
              <a:t>THREE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51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596BE"/>
                </a:solidFill>
                <a:latin typeface="Aptos"/>
              </a:rPr>
              <a:t>Flex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25196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Aptos"/>
              </a:rPr>
              <a:t>Direct children = flex items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Stress 'direct children'. A nested grandchild is not automatically a flex item of this container.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Main axis and cross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Most Flexbox confusion disappears when students understand the axes.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1F35"/>
                </a:solidFill>
                <a:latin typeface="Aptos"/>
              </a:rPr>
              <a:t>flex-direction: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926080"/>
            <a:ext cx="960120" cy="82296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60320" y="2926080"/>
            <a:ext cx="960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86200" y="2926080"/>
            <a:ext cx="9601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1605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596BE"/>
                </a:solidFill>
                <a:latin typeface="Aptos"/>
              </a:rPr>
              <a:t>MAIN AXIS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743200"/>
            <a:ext cx="1097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1A146"/>
                </a:solidFill>
                <a:latin typeface="Aptos"/>
              </a:rPr>
              <a:t>CROSS AXIS  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0292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103120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E1F35"/>
                </a:solidFill>
                <a:latin typeface="Aptos"/>
              </a:rPr>
              <a:t>flex-direction: column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697480"/>
            <a:ext cx="1051560" cy="50292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3383280"/>
            <a:ext cx="1051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1040" y="4069080"/>
            <a:ext cx="10515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3154680"/>
            <a:ext cx="1097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MAIN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45720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41A146"/>
                </a:solidFill>
                <a:latin typeface="Aptos"/>
              </a:rPr>
              <a:t>CROSS 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Repeat: justify-content works on the main axis; align-items works on the cross axis.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flex-direction: choose row or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Direction defines the main axis.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663440" cy="30175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206240" cy="2697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onsolas"/>
              </a:rPr>
              <a:t>.row {
  display: flex;
  flex-direction: row;
}
.column {
  display: flex;
  flex-direction: column;
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783080"/>
            <a:ext cx="914400" cy="64008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783080"/>
            <a:ext cx="91440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55480" y="1783080"/>
            <a:ext cx="914400" cy="64008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3154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5"/>
                </a:solidFill>
                <a:latin typeface="Aptos"/>
              </a:rPr>
              <a:t>COLUMN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971800"/>
            <a:ext cx="1554480" cy="502920"/>
          </a:xfrm>
          <a:prstGeom prst="roundRect">
            <a:avLst/>
          </a:prstGeom>
          <a:solidFill>
            <a:srgbClr val="41A146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18120" y="3630168"/>
            <a:ext cx="15544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18120" y="4288536"/>
            <a:ext cx="155448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5257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Default Flexbox direction is 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students to predict the result before changing row to column.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justify-content: distribute items on the main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available space intentionally.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Consolas"/>
              </a:rPr>
              <a:t>flex-start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737360"/>
            <a:ext cx="76809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865376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Consolas"/>
              </a:rPr>
              <a:t>■ ■ 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974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Consolas"/>
              </a:rPr>
              <a:t>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606040"/>
            <a:ext cx="76809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2734056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Consolas"/>
              </a:rPr>
              <a:t>   ■ ■ ■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661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Consolas"/>
              </a:rPr>
              <a:t>space-between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08960" y="3474720"/>
            <a:ext cx="76809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602736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Consolas"/>
              </a:rPr>
              <a:t>■      ■      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E1F35"/>
                </a:solidFill>
                <a:latin typeface="Consolas"/>
              </a:rPr>
              <a:t>space-around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08960" y="4343400"/>
            <a:ext cx="7680960" cy="5029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471416"/>
            <a:ext cx="7223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Consolas"/>
              </a:rPr>
              <a:t>  ■    ■    ■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349240"/>
            <a:ext cx="4937760" cy="7315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7560" y="5532120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.nav {
  display: flex;
  justify-content: space-between;
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Use a wide container so students can clearly see where the leftover space goes.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align-items: align items on the cross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Especially useful when items have different heights.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749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align-items: flex-start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743200"/>
            <a:ext cx="914400" cy="73152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51760" y="2743200"/>
            <a:ext cx="914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31920" y="2743200"/>
            <a:ext cx="914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828800"/>
            <a:ext cx="507492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031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align-items: center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017520"/>
            <a:ext cx="914400" cy="731520"/>
          </a:xfrm>
          <a:prstGeom prst="roundRect">
            <a:avLst/>
          </a:prstGeom>
          <a:solidFill>
            <a:srgbClr val="41A146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2651760"/>
            <a:ext cx="914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64040" y="2880360"/>
            <a:ext cx="914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Common navigation pattern: align-items: center;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Change item heights live; then compare flex-start, center and stretch.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gap: spacing without margin gymnastics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gap to create consistent space between flex items.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206240" cy="19202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3749039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.services {
  display: flex;
  gap: 24px;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828800"/>
            <a:ext cx="5486400" cy="20116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6440" y="233172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06640" y="233172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06840" y="233172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33832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96BE"/>
                </a:solidFill>
                <a:latin typeface="Aptos"/>
              </a:rPr>
              <a:t>24px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38328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596BE"/>
                </a:solidFill>
                <a:latin typeface="Aptos"/>
              </a:rPr>
              <a:t>24px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E1F35"/>
                </a:solidFill>
                <a:latin typeface="Aptos"/>
              </a:rPr>
              <a:t>Why gap?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5196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Consistent spacing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Cleaner than individual margins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Works for rows and columns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Easy to change in one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Have students remove gap and see the cards touch, then restore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flex-wrap: what happens when items do not fit?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Wrapping is essential for flexible card layouts.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389120" cy="228600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93192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.cards {
  display: flex;
  gap: 20px;
  flex-wrap: wrap;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783080"/>
            <a:ext cx="530352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89320" y="224028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224028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89720" y="224028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89320" y="352044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0" y="3520440"/>
            <a:ext cx="1234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D4646"/>
                </a:solidFill>
                <a:latin typeface="Aptos"/>
              </a:rPr>
              <a:t>Without wrap, items may shrink or overflow depending on sizing.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Narrow the browser and show cards moving to the next 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flex: let items share available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 simple pattern for equal-width cards.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4206240" cy="20116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749039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onsolas"/>
              </a:rPr>
              <a:t>.card {
  flex: 1;
  min-width: 220px;
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828800"/>
            <a:ext cx="566928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0" y="2331720"/>
            <a:ext cx="1371600" cy="960120"/>
          </a:xfrm>
          <a:prstGeom prst="roundRect">
            <a:avLst/>
          </a:prstGeom>
          <a:solidFill>
            <a:srgbClr val="2596BE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2331720"/>
            <a:ext cx="1371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331720"/>
            <a:ext cx="1371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6517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6517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1F35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651760"/>
            <a:ext cx="3657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E1F35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10058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flex: 1 allows siblings to grow and share space.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min-width prevents cards becoming unusably narrow.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Combined with flex-wrap, this becomes a useful card pattern.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Keep flex-grow/shrink/basis theory light today; focus on the useful shorthand pattern.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Build a navigation bar with Flexbox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 real-world pattern students will use repeatedly.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5303520" cy="42976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84632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&lt;nav class="navbar container"&gt;
  &lt;a class="logo" href="#"&gt;WebClass&lt;/a&gt;
  &lt;div class="nav-links"&gt;
    &lt;a href="#"&gt;Home&lt;/a&gt;
    &lt;a href="#"&gt;About&lt;/a&gt;
    &lt;a href="#"&gt;Services&lt;/a&gt;
    &lt;a href="#"&gt;Contact&lt;/a&gt;
  &lt;/div&gt;
&lt;/nav&gt;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303520" cy="429768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846320" cy="3977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.navbar {
  display: flex;
  justify-content: space-between;
  align-items: center;
  padding: 20px 0;
}
.nav-links {
  display: flex;
  gap: 24px;
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Build this live. Point out that navbar and nav-links are two separate flex containers.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Build a two-column hero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Flexbox can align text and visual content side-by-side.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32461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194560"/>
            <a:ext cx="457200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56032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0E1F35"/>
                </a:solidFill>
                <a:latin typeface="Aptos"/>
              </a:rPr>
              <a:t>Build skills.
Create for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611880"/>
            <a:ext cx="3840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Learn the foundations used to create modern web interfaces.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4800600" cy="251460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246120"/>
            <a:ext cx="4251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IMAGE / 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5257800"/>
            <a:ext cx="5029200" cy="77724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544068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.hero {
  display: flex;
  align-items: center;
  gap: 40px;
}
.hero &gt; * { flex: 1;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Explain that Day 5 will make this layout stack appropriately on small screens.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Build a service-card row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Reusable HTML + reusable CSS = scalable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44200" cy="301752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240280"/>
            <a:ext cx="2971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Web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0040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Clean interfaces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794760"/>
            <a:ext cx="1143000" cy="384048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904487"/>
            <a:ext cx="98755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Explore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2240280"/>
            <a:ext cx="2971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Networking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20040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Connected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79" y="3794760"/>
            <a:ext cx="1143000" cy="384048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1" y="3904487"/>
            <a:ext cx="98755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Explore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240280"/>
            <a:ext cx="2971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560320"/>
            <a:ext cx="2514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00400"/>
            <a:ext cx="2514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978"/>
                </a:solidFill>
                <a:latin typeface="Aptos"/>
              </a:rPr>
              <a:t>Modern infrastructure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794760"/>
            <a:ext cx="1143000" cy="384048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904487"/>
            <a:ext cx="987552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Explore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5166360"/>
            <a:ext cx="7315200" cy="731520"/>
          </a:xfrm>
          <a:prstGeom prst="roundRect">
            <a:avLst/>
          </a:prstGeom>
          <a:solidFill>
            <a:srgbClr val="141C26"/>
          </a:solidFill>
          <a:ln>
            <a:solidFill>
              <a:srgbClr val="141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534924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.services { display:flex; gap:24px; flex-wrap:wrap; }
.card { flex:1; min-width:220px; 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Ask: if a fourth service is added, which CSS should need changing? Ideally none.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Nested Flexbox: layouts inside layouts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Real interfaces often contain several flex containers.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33832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51560" y="2194560"/>
            <a:ext cx="10058400" cy="54864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359152"/>
            <a:ext cx="9692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NAVBAR: flex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3063240"/>
            <a:ext cx="3840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361188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E1F35"/>
                </a:solidFill>
                <a:latin typeface="Aptos"/>
              </a:rPr>
              <a:t>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0632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3291840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NAV-LINKS: another flex container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840480"/>
            <a:ext cx="114300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3941063"/>
            <a:ext cx="10058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B2631"/>
                </a:solidFill>
                <a:latin typeface="Aptos"/>
              </a:rPr>
              <a:t>Home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3840480"/>
            <a:ext cx="114300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70648" y="3941063"/>
            <a:ext cx="10058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B2631"/>
                </a:solidFill>
                <a:latin typeface="Aptos"/>
              </a:rPr>
              <a:t>About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3840480"/>
            <a:ext cx="1143000" cy="384048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87968" y="3941063"/>
            <a:ext cx="100584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B2631"/>
                </a:solidFill>
                <a:latin typeface="Aptos"/>
              </a:rPr>
              <a:t>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1A146"/>
                </a:solidFill>
                <a:latin typeface="Aptos"/>
              </a:rPr>
              <a:t>Think in containers: which group needs its own layout rules?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Students often put display:flex on the wrong ancestor. Use this slide to teach container boundaries.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When NOT to use Flexbox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Choose layout tools according to the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NORMAL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Best for ordinary document content that naturally stacks: headings, paragraphs, sections.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FLEXBOX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Best for one-dimensional alignment: a row OR a column, navigation, cards, controls.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CSS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Best when both rows AND columns need coordinated two-dimensional control. We can learn it later.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Avoid using absolute positioning to build ordinary page layout. It creates fragile designs.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Common Flexbox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Debug the container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3035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D4646"/>
                </a:solidFill>
                <a:latin typeface="Aptos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display:flex on wrong element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Trying justify-content on a non-flex container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Confusing main and cross axes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Using margins instead of gap everywhere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Forgetting flex-wrap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Fixed widths that prevent flexibility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303520" cy="38404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1A146"/>
                </a:solidFill>
                <a:latin typeface="Aptos"/>
              </a:rPr>
              <a:t>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606040"/>
            <a:ext cx="4480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Inspect the parent container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Confirm flex-direction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Identify main axis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Check available space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Toggle wrap/gap in DevTools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Remove unnecessary fixed sizing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Make students say 'Which element is the flex container?' before they change any property.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Use DevTools to understand Flexbox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Modern browsers visualize flex containers and spacing.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965960"/>
            <a:ext cx="3246120" cy="109728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SELECT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Inspect the flex container in the Elements panel.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96512" y="1965960"/>
            <a:ext cx="3246120" cy="109728"/>
          </a:xfrm>
          <a:prstGeom prst="rect">
            <a:avLst/>
          </a:prstGeom>
          <a:solidFill>
            <a:srgbClr val="41A146"/>
          </a:solidFill>
          <a:ln>
            <a:solidFill>
              <a:srgbClr val="41A1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TOGGLE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Change direction, justify-content, align-items, gap and wrap live.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2461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98664" y="1965960"/>
            <a:ext cx="3246120" cy="109728"/>
          </a:xfrm>
          <a:prstGeom prst="rect">
            <a:avLst/>
          </a:prstGeom>
          <a:solidFill>
            <a:srgbClr val="F9C02B"/>
          </a:solidFill>
          <a:ln>
            <a:solidFill>
              <a:srgbClr val="F9C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E1F35"/>
                </a:solidFill>
                <a:latin typeface="Aptos"/>
              </a:rPr>
              <a:t>OBSERVE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2880360"/>
            <a:ext cx="2743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Watch which axis changes and how items respond before editing source CSS.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2596BE"/>
                </a:solidFill>
                <a:latin typeface="Aptos"/>
              </a:rPr>
              <a:t>Experiment in DevTools → understand the behaviour → make the real change in style.css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If available, show the browser's Flexbox badge/overlay around the inspected container.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Hands-on Lab: upgrade the business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Apply Flexbox to the Day 3 styled website.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486400" cy="406908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596BE"/>
                </a:solidFill>
                <a:latin typeface="Aptos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6634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Centered .container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Flex navigation with logo + links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Two-column hero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3 service cards in a flex row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Consistent gap between cards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About section with text + image columns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Footer content aligned cleanly</a:t>
            </a:r>
          </a:p>
          <a:p>
            <a:pPr>
              <a:spcAft>
                <a:spcPts val="700"/>
              </a:spcAft>
              <a:defRPr sz="1600">
                <a:solidFill>
                  <a:srgbClr val="1B2631"/>
                </a:solidFill>
                <a:latin typeface="Aptos"/>
              </a:defRPr>
            </a:pPr>
            <a:r>
              <a:t>• Use flex-wrap where appropriate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737360"/>
            <a:ext cx="4754880" cy="406908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574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9C02B"/>
                </a:solidFill>
                <a:latin typeface="Aptos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743200"/>
            <a:ext cx="3840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✓ No absolute positioning
✓ Clear container hierarchy
✓ Uses gap
✓ Uses justify-content
✓ Uses align-items
✓ Cards remain usable
✓ Clean, readable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Give 45–60 minutes. Students should build, inspect and explain—not just copy your final CSS.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Pair challenge: reproduce this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Translate a visual arrangement into HTML structure + Flexbox rules.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148840"/>
            <a:ext cx="9875520" cy="45720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286000"/>
            <a:ext cx="9509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LOGO                              HOME   ABOUT   SERVICES   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926080"/>
            <a:ext cx="43891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3931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1F35"/>
                </a:solidFill>
                <a:latin typeface="Aptos"/>
              </a:rPr>
              <a:t>Headline + text + button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926080"/>
            <a:ext cx="5166360" cy="150876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474720"/>
            <a:ext cx="4709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IMAGE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617720"/>
            <a:ext cx="3063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26280" y="4617720"/>
            <a:ext cx="3063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909560" y="4617720"/>
            <a:ext cx="30632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41A146"/>
                </a:solidFill>
                <a:latin typeface="Aptos"/>
              </a:rPr>
              <a:t>Task: identify every flex container before writing CSS.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Pairs should first sketch the HTML nesting on paper, then implement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DAY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4 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Can students reason about layout instead of memorizing properties?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3327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1. What becomes a flex item when display:flex is applied?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2. What is the main axis when flex-direction is row?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3. Difference between justify-content and align-items?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4. Why use gap instead of random margins?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5. What does flex-wrap solve?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6. How can flex:1 help a card layout?</a:t>
            </a:r>
          </a:p>
          <a:p>
            <a:pPr>
              <a:spcAft>
                <a:spcPts val="700"/>
              </a:spcAft>
              <a:defRPr sz="1800">
                <a:solidFill>
                  <a:srgbClr val="1B2631"/>
                </a:solidFill>
                <a:latin typeface="Aptos"/>
              </a:defRPr>
            </a:pPr>
            <a:r>
              <a:t>• 7. Where would you use nested flex containers?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3212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96BE"/>
                </a:solidFill>
                <a:latin typeface="Aptos"/>
              </a:rPr>
              <a:t>EXIT TASK: inspect one flex container and explain its direction, main axis, alignment and spacing.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Ask students to point to the container and children while explaining.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Rebuild a simple real-world homepage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Use layout skills—not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342900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784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Choose a simple business, school, portfolio or service homepage.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Create navigation, hero, services/cards, about section and footer.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 at least 4 Flexbox containers.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Use justify-content, align-items, gap and flex-wrap correctly.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Keep your Day 3 typography, colors and box-model styling.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Do not use Bootstrap/Tailwind or copy a complete template.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Be ready to explain your container hierarchy.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CD4646"/>
                </a:solidFill>
                <a:latin typeface="Aptos"/>
              </a:rPr>
              <a:t>Focus: structure + layout quality, not decorative complexity.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Students may use a real website only as visual inspiration; they should write their own HTML/CSS.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Day 5: Responsive Web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A layout is not finished until it works across screen sizes.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658368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1F35"/>
                </a:solidFill>
                <a:latin typeface="Aptos"/>
              </a:rPr>
              <a:t>DESKTOP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606040"/>
            <a:ext cx="5760720" cy="457200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34440" y="3337560"/>
            <a:ext cx="2651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3337560"/>
            <a:ext cx="2834640" cy="109728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2743200" cy="3291840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0312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E1F35"/>
                </a:solidFill>
                <a:latin typeface="Aptos"/>
              </a:rPr>
              <a:t>MOBILE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606040"/>
            <a:ext cx="1920240" cy="384048"/>
          </a:xfrm>
          <a:prstGeom prst="roundRect">
            <a:avLst/>
          </a:prstGeom>
          <a:solidFill>
            <a:srgbClr val="0E1F35"/>
          </a:solidFill>
          <a:ln>
            <a:solidFill>
              <a:srgbClr val="0E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0" y="3246120"/>
            <a:ext cx="19202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4069080"/>
            <a:ext cx="1920240" cy="640080"/>
          </a:xfrm>
          <a:prstGeom prst="round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41A146"/>
                </a:solidFill>
                <a:latin typeface="Aptos"/>
              </a:rPr>
              <a:t>Next: viewport • media queries • flexible units • mobile-first thinking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Preview by shrinking today's hero layout and asking: what should change on a phone?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96BE"/>
                </a:solidFill>
                <a:latin typeface="Aptos"/>
              </a:rPr>
              <a:t>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5"/>
                </a:solidFill>
                <a:latin typeface="Aptos"/>
              </a:rPr>
              <a:t>Recommended learning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0759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B6978"/>
                </a:solidFill>
                <a:latin typeface="Aptos"/>
              </a:rPr>
              <a:t>Standards-based resources for instructor preparation and student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MDN: CSS Flexible Box Layout — developer.mozilla.org/en-US/docs/Web/CSS/CSS_flexible_box_layout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MDN: Basic concepts of Flexbox — developer.mozilla.org/en-US/docs/Web/CSS/CSS_flexible_box_layout/Basic_concepts_of_flexbox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web.dev Learn CSS: Flexbox — web.dev/learn/css/flexbox/</a:t>
            </a:r>
          </a:p>
          <a:p>
            <a:pPr>
              <a:spcAft>
                <a:spcPts val="700"/>
              </a:spcAft>
              <a:defRPr sz="1700">
                <a:solidFill>
                  <a:srgbClr val="1B2631"/>
                </a:solidFill>
                <a:latin typeface="Aptos"/>
              </a:defRPr>
            </a:pPr>
            <a:r>
              <a:t>• MDN: CSS Layout — developer.mozilla.org/en-US/docs/Learn_web_development/Core/CSS_layout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2596BE"/>
                </a:solidFill>
                <a:latin typeface="Aptos"/>
              </a:rPr>
              <a:t>Instructor principle: make students predict the layout before running the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327648"/>
            <a:ext cx="10789920" cy="329184"/>
          </a:xfrm>
          <a:prstGeom prst="roundRect">
            <a:avLst/>
          </a:prstGeom>
          <a:solidFill>
            <a:srgbClr val="F4F7FA"/>
          </a:solidFill>
          <a:ln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6382512"/>
            <a:ext cx="10149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6978"/>
                </a:solidFill>
                <a:latin typeface="Aptos"/>
              </a:rPr>
              <a:t>TEACHER CUE: Use documentation as a reference, but teach through repeated visual experiments.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19088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B6978"/>
                </a:solidFill>
                <a:latin typeface="Aptos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693408"/>
            <a:ext cx="10972800" cy="18288"/>
          </a:xfrm>
          <a:prstGeom prst="rect">
            <a:avLst/>
          </a:prstGeom>
          <a:solidFill>
            <a:srgbClr val="E2E7EC"/>
          </a:solidFill>
          <a:ln>
            <a:solidFill>
              <a:srgbClr val="E2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