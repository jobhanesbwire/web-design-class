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C4DC"/>
                </a:solidFill>
                <a:latin typeface="Aptos"/>
              </a:rPr>
              <a:t>WEB DESIGN FOUNDATIONS</a:t>
            </a:r>
            <a:endParaRPr sz="1700" b="1">
              <a:solidFill>
                <a:srgbClr val="49C4D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HTML, the Web
&amp; Building Your First Pages</a:t>
            </a:r>
            <a:endParaRPr sz="3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9C02B"/>
                </a:solidFill>
                <a:latin typeface="Aptos"/>
              </a:rPr>
              <a:t>DAY 1 + DAY 2  |  Beginner Web Design</a:t>
            </a:r>
            <a:endParaRPr sz="1600" b="1">
              <a:solidFill>
                <a:srgbClr val="F9C02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From consuming the web → to creating for the world.</a:t>
            </a:r>
            <a:endParaRPr sz="2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01000" y="10515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1051560"/>
            <a:ext cx="3383280" cy="502920"/>
          </a:xfrm>
          <a:prstGeom prst="roundRect">
            <a:avLst/>
          </a:prstGeom>
          <a:solidFill>
            <a:srgbClr val="E5EBF1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5320" y="1216152"/>
            <a:ext cx="109728" cy="109728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22208" y="1216152"/>
            <a:ext cx="109728" cy="109728"/>
          </a:xfrm>
          <a:prstGeom prst="ellipse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69096" y="1216152"/>
            <a:ext cx="109728" cy="109728"/>
          </a:xfrm>
          <a:prstGeom prst="ellipse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1874519"/>
            <a:ext cx="2651760" cy="59436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&lt;h1&gt;Hello World&lt;/h1&gt;</a:t>
            </a:r>
            <a:endParaRPr sz="14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E1F35"/>
                </a:solidFill>
                <a:latin typeface="Aptos"/>
              </a:rPr>
              <a:t>HTML</a:t>
            </a:r>
            <a:endParaRPr sz="28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3832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978"/>
                </a:solidFill>
                <a:latin typeface="Aptos"/>
              </a:rPr>
              <a:t>Structure • Meaning • Content</a:t>
            </a:r>
            <a:endParaRPr sz="14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663440"/>
            <a:ext cx="265176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>
                <a:solidFill>
                  <a:srgbClr val="41A146"/>
                </a:solidFill>
                <a:latin typeface="Aptos"/>
              </a:rPr>
              <a:t>BY: Mr. Job Bwire </a:t>
            </a:r>
            <a:endParaRPr lang="en-US" b="1">
              <a:solidFill>
                <a:srgbClr val="41A146"/>
              </a:solidFill>
              <a:latin typeface="Aptos"/>
            </a:endParaRPr>
          </a:p>
          <a:p>
            <a:pPr algn="ctr"/>
            <a:r>
              <a:rPr lang="en-US" b="1">
                <a:solidFill>
                  <a:srgbClr val="41A146"/>
                </a:solidFill>
                <a:latin typeface="Aptos"/>
              </a:rPr>
              <a:t>0702263351</a:t>
            </a:r>
            <a:endParaRPr lang="en-US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COURSE ROADMAP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000" b="1">
                <a:solidFill>
                  <a:srgbClr val="0E1F35"/>
                </a:solidFill>
                <a:latin typeface="Aptos"/>
              </a:rPr>
              <a:t>Foundation Layout</a:t>
            </a:r>
            <a:endParaRPr lang="en-US"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We start with foundations before styling and interactivity.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170432" cy="123444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DAY 1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Web + HTML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93392" y="2148840"/>
            <a:ext cx="1170432" cy="123444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4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DAY 2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66544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HTML Structure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92424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3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65576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CSS Basics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91456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4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4608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CSS Layout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90488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5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697480"/>
            <a:ext cx="109664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Responsive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89520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6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62672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JS Basics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88552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1704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7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61704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DOM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387584" y="2148840"/>
            <a:ext cx="1170432" cy="1234440"/>
          </a:xfrm>
          <a:prstGeom prst="roundRect">
            <a:avLst/>
          </a:prstGeom>
          <a:solidFill>
            <a:srgbClr val="E1E7ED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0736" y="2331720"/>
            <a:ext cx="1024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DAY 8</a:t>
            </a:r>
            <a:endParaRPr sz="1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60736" y="2697480"/>
            <a:ext cx="10241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E1F35"/>
                </a:solidFill>
                <a:latin typeface="Aptos"/>
              </a:rPr>
              <a:t>Project</a:t>
            </a:r>
            <a:endParaRPr sz="1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Goal after Day 2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4526280"/>
            <a:ext cx="10515600" cy="768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200" b="0">
                <a:solidFill>
                  <a:srgbClr val="1B2631"/>
                </a:solidFill>
                <a:latin typeface="Aptos"/>
              </a:rPr>
              <a:t>You </a:t>
            </a:r>
            <a:r>
              <a:rPr sz="2200" b="0">
                <a:solidFill>
                  <a:srgbClr val="1B2631"/>
                </a:solidFill>
                <a:latin typeface="Aptos"/>
              </a:rPr>
              <a:t>should be able to explain how the Web works and build a clean, structured HTML page without copying blindly.</a:t>
            </a:r>
            <a:endParaRPr sz="22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6382512"/>
            <a:ext cx="10241280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1">
                <a:solidFill>
                  <a:srgbClr val="5B6978"/>
                </a:solidFill>
                <a:latin typeface="Aptos"/>
              </a:rPr>
              <a:t>Bwire </a:t>
            </a:r>
            <a:r>
              <a:rPr sz="900" b="1">
                <a:solidFill>
                  <a:srgbClr val="5B6978"/>
                </a:solidFill>
                <a:latin typeface="Aptos"/>
              </a:rPr>
              <a:t>CUE: Ask: “What do you think happens after you type a website address and press Enter?”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Why learn web skills?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Web skills are foundational digital skills—not just “website decoration.”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CREATE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Build websites, portfolios, landing pages, dashboards and interfaces.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96512" y="201168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201168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UNDERSTAND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5112" y="292608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See how browsers, links, files, servers and digital products fit together.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98664" y="201168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201168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GROW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27264" y="292608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Create a base for frontend, full-stack, UX, e-commerce, cloud and software careers.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52852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96BE"/>
                </a:solidFill>
                <a:latin typeface="Aptos"/>
              </a:rPr>
              <a:t>Industry signal</a:t>
            </a:r>
            <a:endParaRPr sz="16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68880" y="52303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W3Techs reports JavaScript on about 98.9% of websites as a client-side language (Sept. 2026).</a:t>
            </a:r>
            <a:endParaRPr sz="17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82512"/>
            <a:ext cx="10241280" cy="229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1">
                <a:solidFill>
                  <a:srgbClr val="5B6978"/>
                </a:solidFill>
                <a:latin typeface="Aptos"/>
              </a:rPr>
              <a:t>Bwire </a:t>
            </a:r>
            <a:r>
              <a:rPr sz="900" b="1">
                <a:solidFill>
                  <a:srgbClr val="5B6978"/>
                </a:solidFill>
                <a:latin typeface="Aptos"/>
              </a:rPr>
              <a:t>CUE: Connect the lesson to real products students use: school portals, e-commerce, banking, social media.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3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The global web-skills stack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Start with the universal browser technologies before frameworks.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3657600" cy="658368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848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HTML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21031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Structure &amp; meaning</a:t>
            </a:r>
            <a:endParaRPr sz="14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3657600" cy="658368"/>
          </a:xfrm>
          <a:prstGeom prst="round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992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CSS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7440" y="30175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Presentation &amp; layout</a:t>
            </a:r>
            <a:endParaRPr sz="14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39"/>
            <a:ext cx="3657600" cy="658368"/>
          </a:xfrm>
          <a:prstGeom prst="round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913505"/>
            <a:ext cx="1279525" cy="53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JavaScript</a:t>
            </a:r>
            <a:endParaRPr sz="16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3931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E1F35"/>
                </a:solidFill>
                <a:latin typeface="Aptos"/>
              </a:rPr>
              <a:t>Behaviour &amp; interactivity</a:t>
            </a:r>
            <a:endParaRPr sz="1400" b="0">
              <a:solidFill>
                <a:srgbClr val="0E1F35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Then the ecosystem expands…</a:t>
            </a:r>
            <a:endParaRPr sz="2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24688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Responsive design &amp; accessibility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Git and collaboration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APIs and data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Frameworks such as React/Vue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Backend, databases &amp; cloud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Performance and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Emphasize: frameworks change; HTML/CSS/JS fundamentals remain transferable.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4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Internet ≠ World Wide Web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0">
                <a:solidFill>
                  <a:srgbClr val="5B6978"/>
                </a:solidFill>
                <a:latin typeface="Aptos"/>
              </a:rPr>
              <a:t>You </a:t>
            </a:r>
            <a:r>
              <a:rPr sz="1500" b="0">
                <a:solidFill>
                  <a:srgbClr val="5B6978"/>
                </a:solidFill>
                <a:latin typeface="Aptos"/>
              </a:rPr>
              <a:t>should know the difference before writing code.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9204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E1F35"/>
                </a:solidFill>
                <a:latin typeface="Aptos"/>
              </a:rPr>
              <a:t>INTERNET</a:t>
            </a:r>
            <a:endParaRPr sz="27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B2631"/>
                </a:solidFill>
                <a:latin typeface="Aptos"/>
              </a:rPr>
              <a:t>The global network infrastructure that connects computers and devices.</a:t>
            </a:r>
            <a:endParaRPr sz="19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596BE"/>
                </a:solidFill>
                <a:latin typeface="Aptos"/>
              </a:rPr>
              <a:t>Think: roads + transport network</a:t>
            </a:r>
            <a:endParaRPr sz="15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89204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488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E1F35"/>
                </a:solidFill>
                <a:latin typeface="Aptos"/>
              </a:rPr>
              <a:t>WORLD WIDE WEB</a:t>
            </a:r>
            <a:endParaRPr sz="27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12280" y="28803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B2631"/>
                </a:solidFill>
                <a:latin typeface="Aptos"/>
              </a:rPr>
              <a:t>A system of linked pages and resources accessed through browsers using the Internet.</a:t>
            </a:r>
            <a:endParaRPr sz="19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2280" y="4251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1A146"/>
                </a:solidFill>
                <a:latin typeface="Aptos"/>
              </a:rPr>
              <a:t>Think: destinations connected by roads</a:t>
            </a:r>
            <a:endParaRPr sz="15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Quick check: Is WhatsApp the Web? Is a website the Internet? Discuss the distinction.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5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How a website reaches your screen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 simplified request → response model.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331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952" y="2157984"/>
            <a:ext cx="457200" cy="457200"/>
          </a:xfrm>
          <a:prstGeom prst="ellips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6771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1F35"/>
                </a:solidFill>
                <a:latin typeface="Aptos"/>
              </a:rPr>
              <a:t>YOU</a:t>
            </a:r>
            <a:endParaRPr sz="19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Enter a URL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71800" y="278892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596BE"/>
                </a:solidFill>
                <a:latin typeface="Aptos"/>
              </a:rPr>
              <a:t>→</a:t>
            </a:r>
            <a:endParaRPr sz="30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331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1284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593592" y="2157984"/>
            <a:ext cx="457200" cy="457200"/>
          </a:xfrm>
          <a:prstGeom prst="ellips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26771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28163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1F35"/>
                </a:solidFill>
                <a:latin typeface="Aptos"/>
              </a:rPr>
              <a:t>BROWSER</a:t>
            </a:r>
            <a:endParaRPr sz="19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3310128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Requests resource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6440" y="278892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596BE"/>
                </a:solidFill>
                <a:latin typeface="Aptos"/>
              </a:rPr>
              <a:t>→</a:t>
            </a:r>
            <a:endParaRPr sz="30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2011680"/>
            <a:ext cx="2331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1284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28232" y="2157984"/>
            <a:ext cx="457200" cy="457200"/>
          </a:xfrm>
          <a:prstGeom prst="ellips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26771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28163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1F35"/>
                </a:solidFill>
                <a:latin typeface="Aptos"/>
              </a:rPr>
              <a:t>SERVER</a:t>
            </a:r>
            <a:endParaRPr sz="19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3310128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Returns files/data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41080" y="278892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596BE"/>
                </a:solidFill>
                <a:latin typeface="Aptos"/>
              </a:rPr>
              <a:t>→</a:t>
            </a:r>
            <a:endParaRPr sz="30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98280" y="2011680"/>
            <a:ext cx="2331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21284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262872" y="2157984"/>
            <a:ext cx="457200" cy="457200"/>
          </a:xfrm>
          <a:prstGeom prst="ellips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226771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26880" y="28163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1F35"/>
                </a:solidFill>
                <a:latin typeface="Aptos"/>
              </a:rPr>
              <a:t>BROWSER</a:t>
            </a:r>
            <a:endParaRPr sz="19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26880" y="3310128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Renders page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B2631"/>
                </a:solidFill>
                <a:latin typeface="Aptos"/>
              </a:rPr>
              <a:t>Browser receives HTML + CSS + JavaScript + images/assets and turns them into the page you see.</a:t>
            </a:r>
            <a:endParaRPr sz="20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Keep DNS/HTTP details light today. The goal is the mental model, not networking depth.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6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Meet the three core technologies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HTML = STRUCTURE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Headings, paragraphs, links, images, forms and the meaning of content.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96512" y="1874519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6512" y="1874519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194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CSS = PRESENTATION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5112" y="278892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Colors, spacing, typography, layout, responsiveness and visual design.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98664" y="1874519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98664" y="1874519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2194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JS = BEHAVIOUR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27264" y="278892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Clicks, menus, validation, dynamic content, data and interaction.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House analogy: HTML = building structure • CSS = paint/interior • JavaScript = switches/automation</a:t>
            </a:r>
            <a:endParaRPr sz="18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students to classify: button text = HTML; button color = CSS; what happens on click = JS.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7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Your web-design workstation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Professional habits begin with simple file discipline.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A code editor — e.g., Visual Studio Code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A modern browser — Chrome, Edge, Firefox, Safari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A project folder with clear names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Browser Developer Tools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A habit of saving, refreshing, testing and reading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74519"/>
            <a:ext cx="4480560" cy="32461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194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C4DC"/>
                </a:solidFill>
                <a:latin typeface="Consolas"/>
              </a:rPr>
              <a:t>my-first-site/</a:t>
            </a:r>
            <a:endParaRPr sz="1800" b="1">
              <a:solidFill>
                <a:srgbClr val="49C4DC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5160" y="2743200"/>
            <a:ext cx="3657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├── index.html
├── images/
│   └── profile.jpg
└── notes.txt</a:t>
            </a:r>
            <a:endParaRPr sz="18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516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9C02B"/>
                </a:solidFill>
                <a:latin typeface="Aptos"/>
              </a:rPr>
              <a:t>Rule: no spaces or confusing filenames.</a:t>
            </a:r>
            <a:endParaRPr sz="1300" b="1">
              <a:solidFill>
                <a:srgbClr val="F9C02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Live demo: create a folder, create index.html, save it, and open it in a browser.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8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HTML: the language of structure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HTML uses elements to describe what content means.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486400" cy="23774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50292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&lt;h1&gt;My First Website&lt;/h1&gt;
&lt;p&gt;I am learning web design.&lt;/p&gt;
&lt;a href="https://example.com"&gt;Visit&lt;/a&gt;</a:t>
            </a:r>
            <a:endParaRPr sz="18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12280" y="1874519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Read an element</a:t>
            </a:r>
            <a:endParaRPr sz="2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12280" y="2560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96BE"/>
                </a:solidFill>
                <a:latin typeface="Consolas"/>
              </a:rPr>
              <a:t>&lt;p&gt;  Hello  &lt;/p&gt;</a:t>
            </a:r>
            <a:endParaRPr sz="2500" b="1">
              <a:solidFill>
                <a:srgbClr val="2596BE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12280" y="32461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Opening tag: &lt;p&gt;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Content: Hello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Closing tag: &lt;/p&gt;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Together: an HTML element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Have students physically point out opening tag, content and closing tag.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9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The skeleton of every HTML document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669280" cy="425196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52120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&lt;!DOCTYPE html&gt;
&lt;html lang="en"&gt;
&lt;head&gt;
  &lt;meta charset="UTF-8"&gt;
  &lt;title&gt;My First Website&lt;/title&gt;
&lt;/head&gt;
&lt;body&gt;
  &lt;h1&gt;Hello World&lt;/h1&gt;
  &lt;p&gt;My first web page.&lt;/p&gt;
&lt;/body&gt;
&lt;/html&gt;</a:t>
            </a:r>
            <a:endParaRPr sz="15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20840" y="18288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&lt;!DOCTYPE html&gt; — modern HTML document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&lt;html&gt; — root element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&lt;head&gt; — page information for browser/search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&lt;title&gt; — browser-tab title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&lt;body&gt; — visible page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Type this live from a blank file. Avoid pasting—the students need to see the structure being built.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10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Essential content elements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Learn a small set well before chasing dozens of tags.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21031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09160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&lt;h1&gt;Main heading&lt;/h1&gt;
&lt;h2&gt;Section heading&lt;/h2&gt;
&lt;p&gt;A paragraph of text.&lt;/p&gt;</a:t>
            </a:r>
            <a:endParaRPr sz="17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66360" cy="21031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709160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&lt;a href="about.html"&gt;About&lt;/a&gt;
&lt;img src="photo.jpg" alt="Student coding"&gt;
&lt;br&gt;</a:t>
            </a:r>
            <a:endParaRPr sz="16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Good HTML describes meaning.</a:t>
            </a:r>
            <a:endParaRPr sz="2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Aptos"/>
              </a:rPr>
              <a:t>Use headings in logical order. Use useful link text. Give images meaningful alternative text.</a:t>
            </a:r>
            <a:endParaRPr sz="18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Mini challenge: students create a page with their name, short bio, image and one useful link.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11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Attributes add information to elements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6583680" cy="22402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6126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&lt;a href="https://example.com" target="_blank"&gt;Open site&lt;/a&gt;
&lt;img src="student.jpg" alt="Student learning HTML" width="300"&gt;</a:t>
            </a:r>
            <a:endParaRPr sz="16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Attribute pattern</a:t>
            </a:r>
            <a:endParaRPr sz="21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18120" y="25146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596BE"/>
                </a:solidFill>
                <a:latin typeface="Consolas"/>
              </a:rPr>
              <a:t>name="value"</a:t>
            </a:r>
            <a:endParaRPr sz="2500" b="1">
              <a:solidFill>
                <a:srgbClr val="2596BE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32461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href → destination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src → file source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alt → image meaning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width → display 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1A146"/>
                </a:solidFill>
                <a:latin typeface="Aptos"/>
              </a:rPr>
              <a:t>Accessibility habit: never treat alt text as decoration—it helps describe meaningful images.</a:t>
            </a:r>
            <a:endParaRPr sz="17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Ask: what changes if href changes? What happens if src is wrong?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12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Hands-on Lab 1: Build your first page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Work independently first; compare with a partner afterward.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676656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BUILD</a:t>
            </a:r>
            <a:endParaRPr sz="18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Create a folder: my-first-site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Create index.html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Add correct HTML document structure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Add your name as &lt;h1&gt;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Write two paragraphs about yourself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Add one image and one link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Change the &lt;title&gt; and test in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28800"/>
            <a:ext cx="3291840" cy="356616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94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9C02B"/>
                </a:solidFill>
                <a:latin typeface="Aptos"/>
              </a:rPr>
              <a:t>SUCCESS CHECK</a:t>
            </a:r>
            <a:endParaRPr sz="1700" b="1">
              <a:solidFill>
                <a:srgbClr val="F9C0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0" y="2880360"/>
            <a:ext cx="2468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✓ Opens in browser
✓ No missing tags
✓ Image loads
✓ Link works
✓ Title is correct
✓ Neat indentation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Give 20–30 minutes. Walk around and debug with students rather than fixing code for them.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13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1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1 checkpoint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Can you explain—not just copy—the foundations?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1. What is the difference between the Internet and the Web?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2. What does a browser do?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3. What is HTML responsible for?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4. What are opening and closing tags?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5. What is an attribute?</a:t>
            </a:r>
          </a:p>
          <a:p>
            <a:pPr>
              <a:spcAft>
                <a:spcPts val="700"/>
              </a:spcAft>
              <a:defRPr sz="2000">
                <a:solidFill>
                  <a:srgbClr val="1B2631"/>
                </a:solidFill>
                <a:latin typeface="Aptos"/>
              </a:defRPr>
            </a:pPr>
            <a:r>
              <a:t>• 6. What belongs inside &lt;body&gt;?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HOME PRACTICE: Improve your About Me page with 3 headings, 3 paragraphs, 2 links and 2 images.</a:t>
            </a:r>
            <a:endParaRPr sz="17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Do a verbal recap before revealing answers. Ask different students to explain in their own words.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14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From tags to real page structure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Today: organize content the way professional pages are organized.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6978"/>
                </a:solidFill>
                <a:latin typeface="Aptos"/>
              </a:rPr>
              <a:t>Yesterday</a:t>
            </a:r>
            <a:endParaRPr sz="18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E1F35"/>
                </a:solidFill>
                <a:latin typeface="Aptos"/>
              </a:rPr>
              <a:t>Individual HTML elements</a:t>
            </a:r>
            <a:endParaRPr sz="25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4920" y="22860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500" b="1">
                <a:solidFill>
                  <a:srgbClr val="2596BE"/>
                </a:solidFill>
                <a:latin typeface="Aptos"/>
              </a:rPr>
              <a:t>→</a:t>
            </a:r>
            <a:endParaRPr sz="35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Today</a:t>
            </a:r>
            <a:endParaRPr sz="18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E1F35"/>
                </a:solidFill>
                <a:latin typeface="Aptos"/>
              </a:rPr>
              <a:t>Meaningful page sections</a:t>
            </a:r>
            <a:endParaRPr sz="25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3246120"/>
            <a:ext cx="100584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B2631"/>
                </a:solidFill>
                <a:latin typeface="Aptos"/>
              </a:rPr>
              <a:t>HEADER  |  NAVIGATION  |  MAIN CONTENT  |  SECTIONS  |  FOOTER</a:t>
            </a:r>
            <a:endParaRPr sz="2100" b="1">
              <a:solidFill>
                <a:srgbClr val="1B263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1A146"/>
                </a:solidFill>
                <a:latin typeface="Aptos"/>
              </a:rPr>
              <a:t>The skill is not memorizing tags. The skill is choosing structure that communicates meaning.</a:t>
            </a:r>
            <a:endParaRPr sz="19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Open one familiar website and ask students to identify its header, navigation, main content and footer.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15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Lists: organize related information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&lt;ul&gt;
  &lt;li&gt;Web Design&lt;/li&gt;
  &lt;li&gt;Networking&lt;/li&gt;
  &lt;li&gt;Cloud Skills&lt;/li&gt;
&lt;/ul&gt;</a:t>
            </a:r>
            <a:endParaRPr sz="17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029200" cy="22860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5720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&lt;ol&gt;
  &lt;li&gt;Plan&lt;/li&gt;
  &lt;li&gt;Code&lt;/li&gt;
  &lt;li&gt;Test&lt;/li&gt;
&lt;/ol&gt;</a:t>
            </a:r>
            <a:endParaRPr sz="17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96BE"/>
                </a:solidFill>
                <a:latin typeface="Aptos"/>
              </a:rPr>
              <a:t>Unordered list = no required sequence</a:t>
            </a:r>
            <a:endParaRPr sz="18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1A146"/>
                </a:solidFill>
                <a:latin typeface="Aptos"/>
              </a:rPr>
              <a:t>Ordered list = sequence matters</a:t>
            </a:r>
            <a:endParaRPr sz="18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students for real uses: menu items, features, instructions, rankings, steps.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16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Tables: present genuinely tabular data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tables for rows and columns—not for page layout.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669280" cy="34290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&lt;table&gt;
  &lt;tr&gt;
    &lt;th&gt;Skill&lt;/th&gt;
    &lt;th&gt;Level&lt;/th&gt;
  &lt;/tr&gt;
  &lt;tr&gt;
    &lt;td&gt;HTML&lt;/td&gt;
    &lt;td&gt;Beginner&lt;/td&gt;
  &lt;/tr&gt;
&lt;/table&gt;</a:t>
            </a:r>
            <a:endParaRPr sz="16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03720" y="1965960"/>
            <a:ext cx="4160520" cy="54864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13055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Skill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0" y="213055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Level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03720" y="2514600"/>
            <a:ext cx="4160520" cy="548640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6791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HTML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0" y="26791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Beginner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03720" y="3063240"/>
            <a:ext cx="4160520" cy="548640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22783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CSS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0" y="322783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Next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03720" y="3611880"/>
            <a:ext cx="4160520" cy="548640"/>
          </a:xfrm>
          <a:prstGeom prst="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776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JavaScript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0" y="377647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2631"/>
                </a:solidFill>
                <a:latin typeface="Aptos"/>
              </a:rPr>
              <a:t>Later</a:t>
            </a:r>
            <a:endParaRPr sz="15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448056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Key tags: &lt;table&gt; &lt;tr&gt; &lt;th&gt; &lt;td&gt;</a:t>
            </a:r>
            <a:endParaRPr sz="17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Explain that CSS will later make the table visually polished.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17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Forms: how websites collect user input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Forms power contact pages, sign-up, login, search, checkout and more.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852160" cy="42062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94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&lt;form&gt;
  &lt;label for="name"&gt;Name&lt;/label&gt;
  &lt;input id="name" type="text" required&gt;
  &lt;label for="email"&gt;Email&lt;/label&gt;
  &lt;input id="email" type="email" required&gt;
  &lt;button type="submit"&gt;Send&lt;/button&gt;
&lt;/form&gt;</a:t>
            </a:r>
            <a:endParaRPr sz="15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Think in pairs</a:t>
            </a:r>
            <a:endParaRPr sz="2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0" y="246888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&lt;label&gt; explains the field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&lt;input&gt; collects a value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type controls expected input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required adds browser validation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&lt;button&gt; triggers an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074920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D4646"/>
                </a:solidFill>
                <a:latin typeface="Aptos"/>
              </a:rPr>
              <a:t>Important: HTML creates the form interface. A backend is normally needed to store/process submitted data.</a:t>
            </a:r>
            <a:endParaRPr sz="1500" b="1">
              <a:solidFill>
                <a:srgbClr val="CD46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Live demo: type invalid email and show the browser's built-in validation.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18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Semantic HTML: structure with meaning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Prefer meaningful elements when they describe the role of content.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754880" cy="59436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&lt;header&gt;</a:t>
            </a:r>
            <a:endParaRPr sz="16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4754880" cy="502920"/>
          </a:xfrm>
          <a:prstGeom prst="round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&lt;nav&gt;</a:t>
            </a:r>
            <a:endParaRPr sz="16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4754880" cy="1828800"/>
          </a:xfrm>
          <a:prstGeom prst="roundRect">
            <a:avLst/>
          </a:prstGeom>
          <a:solidFill>
            <a:srgbClr val="E1E8F0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278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B2631"/>
                </a:solidFill>
                <a:latin typeface="Consolas"/>
              </a:rPr>
              <a:t>&lt;main&gt;   &lt;section&gt;   &lt;article&gt;</a:t>
            </a:r>
            <a:endParaRPr sz="1600" b="1">
              <a:solidFill>
                <a:srgbClr val="1B2631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4983480"/>
            <a:ext cx="4754880" cy="59436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4807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&lt;footer&gt;</a:t>
            </a:r>
            <a:endParaRPr sz="16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Why semantics matter</a:t>
            </a:r>
            <a:endParaRPr sz="22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Cleaner code organization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Better accessibility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Clearer meaning for browsers and developers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Easier maintenance and teamwork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Useful foundation for search engines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Compare &lt;div&gt; everywhere versus semantic elements. Explain that &lt;div&gt; is still useful when no semantic element fits.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19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class and id: give elements useful identities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CSS and JavaScript will use these hooks later.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035040" cy="242316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577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&lt;section id="about"&gt;
  &lt;h2 class="section-title"&gt;About Us&lt;/h2&gt;
  &lt;p class="intro"&gt;We build digital skills.&lt;/p&gt;
&lt;/section&gt;</a:t>
            </a:r>
            <a:endParaRPr sz="17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96BE"/>
                </a:solidFill>
                <a:latin typeface="Aptos"/>
              </a:rPr>
              <a:t>id</a:t>
            </a:r>
            <a:endParaRPr sz="24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Usually identifies one unique element on a page.</a:t>
            </a:r>
            <a:endParaRPr sz="17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1A146"/>
                </a:solidFill>
                <a:latin typeface="Aptos"/>
              </a:rPr>
              <a:t>class</a:t>
            </a:r>
            <a:endParaRPr sz="24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Can be reused across many elements that share styling or behaviour.</a:t>
            </a:r>
            <a:endParaRPr sz="1700" b="0">
              <a:solidFill>
                <a:srgbClr val="1B263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B6978"/>
                </a:solidFill>
                <a:latin typeface="Aptos"/>
              </a:rPr>
              <a:t>Preview of CSS:</a:t>
            </a:r>
            <a:endParaRPr sz="16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464515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Consolas"/>
              </a:rPr>
              <a:t>.section-title { color: blue; }</a:t>
            </a:r>
            <a:endParaRPr sz="1800" b="1">
              <a:solidFill>
                <a:srgbClr val="2596BE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Don't teach full CSS yet. Just establish why class/id exist.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20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Hands-on Lab 2: Build a small business page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Combine everything from the first two days.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3977639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REQUIRED STRUCTURE</a:t>
            </a:r>
            <a:endParaRPr sz="18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Header with business name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Navigation with 4 links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Hero heading + paragraph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About section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Services list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Simple pricing table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Contact form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Footer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937760" cy="38404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11680"/>
            <a:ext cx="448056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&lt;header&gt;...&lt;/header&gt;
&lt;nav&gt;...&lt;/nav&gt;
&lt;main&gt;
  &lt;section id="about"&gt;...&lt;/section&gt;
  &lt;section id="services"&gt;...&lt;/section&gt;
  &lt;section id="contact"&gt;...&lt;/section&gt;
&lt;/main&gt;
&lt;footer&gt;...&lt;/footer&gt;</a:t>
            </a:r>
            <a:endParaRPr sz="15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Give 35–45 minutes. Require clean indentation and semantic structure before visual styling.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21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Debug like a developer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Errors are part of the work. Learn to inspect them methodically.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1. OBSERVE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What exactly is wrong? Missing image? Broken link? Wrong structure?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96512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82880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148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2. ISOLATE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5112" y="274320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Check filenames, paths, spelling, nesting and closing tags.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98664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82880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1488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3. TEST</a:t>
            </a:r>
            <a:endParaRPr sz="2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27264" y="2743200"/>
            <a:ext cx="2743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Change one thing, save, refresh and verify the result.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4646"/>
                </a:solidFill>
                <a:latin typeface="Aptos"/>
              </a:rPr>
              <a:t>Common beginner bugs: wrong file path • missing quote • misspelled tag • bad nesting • unsaved file</a:t>
            </a:r>
            <a:endParaRPr sz="1700" b="1">
              <a:solidFill>
                <a:srgbClr val="CD4646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Intentionally break an image path or closing tag and let the class diagnose it.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22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2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2 assessment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Students should now be able to build structure independently.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Explain semantic HTML in your own words.</a:t>
            </a:r>
          </a:p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Create a navigation list with four links.</a:t>
            </a:r>
          </a:p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Create a 2-column table with three data rows.</a:t>
            </a:r>
          </a:p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Create a contact form with name, email and message.</a:t>
            </a:r>
          </a:p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Explain the difference between class and id.</a:t>
            </a:r>
          </a:p>
          <a:p>
            <a:pPr>
              <a:spcAft>
                <a:spcPts val="7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Organize a page using header, nav, main, section and footer.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9C02B"/>
                </a:solidFill>
                <a:latin typeface="Aptos"/>
              </a:rPr>
              <a:t>EXIT TASK</a:t>
            </a:r>
            <a:endParaRPr sz="1600" b="1">
              <a:solidFill>
                <a:srgbClr val="F9C02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0" y="518464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Submit one HTML file that opens correctly in a browser and passes the six checks above.</a:t>
            </a:r>
            <a:endParaRPr sz="18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Use this as a practical assessment rather than a memorization test.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23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NEXT STEP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3: CSS — make structure look professional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HTML gives us meaning. CSS will give us visual design.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754880" cy="33832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9C4DC"/>
                </a:solidFill>
                <a:latin typeface="Aptos"/>
              </a:rPr>
              <a:t>HTML</a:t>
            </a:r>
            <a:endParaRPr sz="2600" b="1">
              <a:solidFill>
                <a:srgbClr val="49C4D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5880" y="2926080"/>
            <a:ext cx="3840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onsolas"/>
              </a:rPr>
              <a:t>&lt;button class="cta"&gt;
  Join Now
&lt;/button&gt;</a:t>
            </a:r>
            <a:endParaRPr sz="2000" b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06440" y="29718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596BE"/>
                </a:solidFill>
                <a:latin typeface="Aptos"/>
              </a:rPr>
              <a:t>→</a:t>
            </a:r>
            <a:endParaRPr sz="36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29400" y="1828800"/>
            <a:ext cx="45720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1488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1A146"/>
                </a:solidFill>
                <a:latin typeface="Aptos"/>
              </a:rPr>
              <a:t>CSS</a:t>
            </a:r>
            <a:endParaRPr sz="2600" b="1">
              <a:solidFill>
                <a:srgbClr val="41A146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2926080"/>
            <a:ext cx="2560320" cy="77724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13639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Join Now</a:t>
            </a:r>
            <a:endParaRPr sz="1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425196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978"/>
                </a:solidFill>
                <a:latin typeface="Aptos"/>
              </a:rPr>
              <a:t>Next: colors • spacing • typography • box model</a:t>
            </a:r>
            <a:endParaRPr sz="16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End by showing that tomorrow's CSS will transform today's structurally correct page.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24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REFERENCE</a:t>
            </a:r>
            <a:endParaRPr sz="12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Teaching &amp; industry references</a:t>
            </a:r>
            <a:endParaRPr sz="3000" b="1">
              <a:solidFill>
                <a:srgbClr val="0E1F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Useful sources for continued learning and instructor preparation.</a:t>
            </a:r>
            <a:endParaRPr sz="15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 Learn Web Development — https://developer.mozilla.org/en-US/docs/Learn_web_development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 HTML — https://developer.mozilla.org/en-US/docs/Web/HTML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MDN: Creating the content — https://developer.mozilla.org/en-US/docs/Learn_web_development/Getting_started/Your_first_website/Creating_the_content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Stack Overflow Developer Survey 2025 — https://survey.stackoverflow.co/2025/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W3Techs client-side language usage — https://w3techs.com/technologies/cross/client_side_language/ranking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Instructor note: web standards and industry tooling evolve. Teach fundamentals first, then keep examples current.</a:t>
            </a:r>
            <a:endParaRPr sz="1700" b="1">
              <a:solidFill>
                <a:srgbClr val="2596B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Use MDN as the primary technical reference for students.</a:t>
            </a:r>
            <a:endParaRPr sz="900" b="1">
              <a:solidFill>
                <a:srgbClr val="5B697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25</a:t>
            </a:r>
            <a:endParaRPr sz="900" b="0">
              <a:solidFill>
                <a:srgbClr val="5B6978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11727</Words>
  <Application>WPS Presentation</Application>
  <PresentationFormat>On-screen Show (4:3)</PresentationFormat>
  <Paragraphs>605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SimSun</vt:lpstr>
      <vt:lpstr>Wingdings</vt:lpstr>
      <vt:lpstr>Arial</vt:lpstr>
      <vt:lpstr>Aptos</vt:lpstr>
      <vt:lpstr>Helvetica Neue</vt:lpstr>
      <vt:lpstr>Consolas</vt:lpstr>
      <vt:lpstr>Calibri</vt:lpstr>
      <vt:lpstr>Thonburi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JOBHANES BWIRE</cp:lastModifiedBy>
  <cp:revision>2</cp:revision>
  <dcterms:created xsi:type="dcterms:W3CDTF">2026-09-22T07:19:53Z</dcterms:created>
  <dcterms:modified xsi:type="dcterms:W3CDTF">2026-09-22T07:19:53Z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3D3870522F062A09192CB26AD18C696E_42</vt:lpwstr>
  </property>
  <property fmtid="{D5CDD505-2E9C-101B-9397-08002B2CF9AE}" pid="3" name="KSOProductBuildVer">
    <vt:lpwstr>1033-12.1.23153.23153</vt:lpwstr>
  </property>
</Properties>
</file>